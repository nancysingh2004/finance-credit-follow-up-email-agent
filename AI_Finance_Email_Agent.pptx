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3330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008C80">
              <a:alpha val="20000"/>
            </a:srgbClr>
          </a:solidFill>
          <a:ln w="12700">
            <a:solidFill>
              <a:srgbClr val="008C80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7200"/>
            <a:ext cx="1463040" cy="1463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97280"/>
            <a:ext cx="2194560" cy="292608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789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A"/>
                </a:solidFill>
              </a:rPr>
              <a:t>AI PRODUCTIVITY TOOL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Finance-Credit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Follow-Up-Email-Agent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457200" y="34747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invoice follow-ups with intelligent tone escalation,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testing &amp; full audit logging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BFAE"/>
                </a:solidFill>
              </a:rPr>
              <a:t>Built with Groq · LangChain · Streamlit · Python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3258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99339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Repetitive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578608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teams spend hours writing personalised invoice reminders for every overdue client.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14300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14300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199339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Tone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37560" y="2578608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lack proper escalation — same friendly tone for 2-day and 30-day overdue invoices.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14300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0" y="114300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258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199339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72200" y="2578608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 emails leave no structured record, causing disputes and compliance gaps.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65760" y="462686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FAE"/>
                </a:solidFill>
              </a:rPr>
              <a:t>Finance teams lose up to 8 hours/week on manual follow-up emails — AI can reclaim that time.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8C80"/>
          </a:solidFill>
          <a:ln w="12700">
            <a:solidFill>
              <a:srgbClr val="008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0" y="1005840"/>
            <a:ext cx="3200400" cy="3200400"/>
          </a:xfrm>
          <a:prstGeom prst="ellipse">
            <a:avLst/>
          </a:prstGeom>
          <a:solidFill>
            <a:srgbClr val="243660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669280" y="2651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Automated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Follow-Ups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33856"/>
            <a:ext cx="402336" cy="402336"/>
          </a:xfrm>
          <a:prstGeom prst="ellipse">
            <a:avLst/>
          </a:prstGeom>
          <a:solidFill>
            <a:srgbClr val="008C80"/>
          </a:solidFill>
          <a:ln w="12700">
            <a:solidFill>
              <a:srgbClr val="008C8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612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1155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payment reminders via Groq + Llama 3.1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1883664"/>
            <a:ext cx="402336" cy="402336"/>
          </a:xfrm>
          <a:prstGeom prst="ellipse">
            <a:avLst/>
          </a:prstGeom>
          <a:solidFill>
            <a:srgbClr val="008C80"/>
          </a:solidFill>
          <a:ln w="12700">
            <a:solidFill>
              <a:srgbClr val="008C8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91109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186537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5-tier tone escalation by days overdue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20040" y="2633472"/>
            <a:ext cx="402336" cy="402336"/>
          </a:xfrm>
          <a:prstGeom prst="ellipse">
            <a:avLst/>
          </a:prstGeom>
          <a:solidFill>
            <a:srgbClr val="008C80"/>
          </a:solidFill>
          <a:ln w="12700">
            <a:solidFill>
              <a:srgbClr val="008C8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66090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26151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invoice ingestion with Pandas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20040" y="3383280"/>
            <a:ext cx="402336" cy="402336"/>
          </a:xfrm>
          <a:prstGeom prst="ellipse">
            <a:avLst/>
          </a:prstGeom>
          <a:solidFill>
            <a:srgbClr val="008C80"/>
          </a:solidFill>
          <a:ln w="12700">
            <a:solidFill>
              <a:srgbClr val="008C80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41071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33649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mode for safe testing before live dispatch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20040" y="4133088"/>
            <a:ext cx="402336" cy="402336"/>
          </a:xfrm>
          <a:prstGeom prst="ellipse">
            <a:avLst/>
          </a:prstGeom>
          <a:solidFill>
            <a:srgbClr val="008C80"/>
          </a:solidFill>
          <a:ln w="12700">
            <a:solidFill>
              <a:srgbClr val="008C80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16052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440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exported as CSV for compliance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960120" cy="777240"/>
          </a:xfrm>
          <a:prstGeom prst="rect">
            <a:avLst/>
          </a:prstGeom>
          <a:solidFill>
            <a:srgbClr val="1A2B4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Invoice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417320" y="157734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1188720"/>
            <a:ext cx="960120" cy="777240"/>
          </a:xfrm>
          <a:prstGeom prst="rect">
            <a:avLst/>
          </a:prstGeom>
          <a:solidFill>
            <a:srgbClr val="24366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73352" y="1188720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33472" y="157734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9504" y="1188720"/>
            <a:ext cx="960120" cy="777240"/>
          </a:xfrm>
          <a:prstGeom prst="rect">
            <a:avLst/>
          </a:prstGeom>
          <a:solidFill>
            <a:srgbClr val="008C8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89504" y="1188720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9624" y="157734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05656" y="1188720"/>
            <a:ext cx="960120" cy="777240"/>
          </a:xfrm>
          <a:prstGeom prst="rect">
            <a:avLst/>
          </a:prstGeom>
          <a:solidFill>
            <a:srgbClr val="00BFAE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05656" y="1188720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960120" cy="777240"/>
          </a:xfrm>
          <a:prstGeom prst="rect">
            <a:avLst/>
          </a:prstGeom>
          <a:solidFill>
            <a:srgbClr val="008C8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246120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417320" y="363474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73352" y="3246120"/>
            <a:ext cx="960120" cy="777240"/>
          </a:xfrm>
          <a:prstGeom prst="rect">
            <a:avLst/>
          </a:prstGeom>
          <a:solidFill>
            <a:srgbClr val="1A2B4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73352" y="3246120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(Llama 3.1)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33472" y="363474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9504" y="3246120"/>
            <a:ext cx="960120" cy="777240"/>
          </a:xfrm>
          <a:prstGeom prst="rect">
            <a:avLst/>
          </a:prstGeom>
          <a:solidFill>
            <a:srgbClr val="24366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889504" y="3246120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9624" y="363474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05656" y="3246120"/>
            <a:ext cx="960120" cy="777240"/>
          </a:xfrm>
          <a:prstGeom prst="rect">
            <a:avLst/>
          </a:prstGeom>
          <a:solidFill>
            <a:srgbClr val="F59E0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05656" y="3246120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01868" y="1568548"/>
            <a:ext cx="0" cy="1280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65776" y="1577340"/>
            <a:ext cx="7360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8862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Data flows left-to-right through each processing layer before reaching the user dashboard and dispatch module.</a:t>
            </a:r>
            <a:endParaRPr lang="en-US" sz="100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BE44D7E3-8E44-49E4-6DE3-AB2BE8BB7061}"/>
              </a:ext>
            </a:extLst>
          </p:cNvPr>
          <p:cNvSpPr/>
          <p:nvPr/>
        </p:nvSpPr>
        <p:spPr>
          <a:xfrm>
            <a:off x="5801868" y="2354580"/>
            <a:ext cx="0" cy="1280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61DCD288-96A8-FDCE-742F-796DFAEEFDE8}"/>
              </a:ext>
            </a:extLst>
          </p:cNvPr>
          <p:cNvSpPr/>
          <p:nvPr/>
        </p:nvSpPr>
        <p:spPr>
          <a:xfrm>
            <a:off x="5065776" y="3634740"/>
            <a:ext cx="7360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TONE ESCALATION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1155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7 Days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0" y="1188720"/>
            <a:ext cx="914400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11887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Warm &amp; Friendly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84708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– 14 Days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920240"/>
            <a:ext cx="1645920" cy="329184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9202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Polite but Firm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57860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– 21 Days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2651760"/>
            <a:ext cx="237744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2651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Formal &amp; Serious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31012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– 30 Days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3383280"/>
            <a:ext cx="3108960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33832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Stern &amp; Urgent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04164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Days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4114800"/>
            <a:ext cx="384048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41148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Legal Escalation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1097280"/>
            <a:ext cx="2926080" cy="3383280"/>
          </a:xfrm>
          <a:prstGeom prst="rect">
            <a:avLst/>
          </a:prstGeom>
          <a:solidFill>
            <a:srgbClr val="1A2B4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16459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Invoice due date is compared to today
2. Days overdue is calculated
3. Tone tier is selected automatically
4. LLM prompt includes tone instruction
5. 30+ days flags for legal review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8C80"/>
          </a:solidFill>
          <a:ln w="12700">
            <a:solidFill>
              <a:srgbClr val="008C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8503920" cy="371246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78992"/>
            <a:ext cx="1645920" cy="371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1078992"/>
            <a:ext cx="3108960" cy="371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66360" y="1078992"/>
            <a:ext cx="3566160" cy="371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Chosen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50238"/>
            <a:ext cx="8503920" cy="397764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50238"/>
            <a:ext cx="155448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57400" y="1450238"/>
            <a:ext cx="30175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Instant (Groq)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66360" y="1450238"/>
            <a:ext cx="34747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inference, low latency, free dev access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885127"/>
            <a:ext cx="8503920" cy="39776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885127"/>
            <a:ext cx="155448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1885127"/>
            <a:ext cx="30175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66360" y="1885127"/>
            <a:ext cx="34747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prompt chaining &amp; structured output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320016"/>
            <a:ext cx="8503920" cy="397764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20016"/>
            <a:ext cx="155448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57400" y="2320016"/>
            <a:ext cx="30175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Pandas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66360" y="2320016"/>
            <a:ext cx="34747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portable, no database needed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754904"/>
            <a:ext cx="8503920" cy="39776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54904"/>
            <a:ext cx="155448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Transport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57400" y="2754904"/>
            <a:ext cx="30175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smtplib (Gmail SMTP)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66360" y="2754904"/>
            <a:ext cx="34747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Python library, verified sender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189793"/>
            <a:ext cx="8503920" cy="397764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89793"/>
            <a:ext cx="155448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Dashboard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57400" y="3189793"/>
            <a:ext cx="30175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3189793"/>
            <a:ext cx="34747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interactive dashboard development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624682"/>
            <a:ext cx="8503920" cy="39776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624682"/>
            <a:ext cx="155448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57400" y="3624682"/>
            <a:ext cx="30175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Audit Logs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66360" y="3624682"/>
            <a:ext cx="34747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auditable, exportable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RISK MITIGATION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32004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78992"/>
            <a:ext cx="73152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3008" y="1371600"/>
            <a:ext cx="320040" cy="0"/>
          </a:xfrm>
          <a:prstGeom prst="line">
            <a:avLst/>
          </a:prstGeom>
          <a:noFill/>
          <a:ln w="25400">
            <a:solidFill>
              <a:srgbClr val="00BF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1078992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1078992"/>
            <a:ext cx="73152" cy="59436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107899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prompt rules + controlled input variables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47088"/>
            <a:ext cx="32004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47088"/>
            <a:ext cx="73152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4708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Data Privacy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93008" y="2139696"/>
            <a:ext cx="320040" cy="0"/>
          </a:xfrm>
          <a:prstGeom prst="line">
            <a:avLst/>
          </a:prstGeom>
          <a:noFill/>
          <a:ln w="25400">
            <a:solidFill>
              <a:srgbClr val="00BF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0" y="1847088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1847088"/>
            <a:ext cx="73152" cy="59436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84708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CSV processing, minimal data sent to LLM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615184"/>
            <a:ext cx="32004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615184"/>
            <a:ext cx="73152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15184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Exposure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93008" y="2907792"/>
            <a:ext cx="320040" cy="0"/>
          </a:xfrm>
          <a:prstGeom prst="line">
            <a:avLst/>
          </a:prstGeom>
          <a:noFill/>
          <a:ln w="25400">
            <a:solidFill>
              <a:srgbClr val="00BFA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2615184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0" y="2615184"/>
            <a:ext cx="73152" cy="59436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261518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+ python-dotenv + .gitignore protection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383280"/>
            <a:ext cx="32004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383280"/>
            <a:ext cx="73152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3832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93008" y="3675888"/>
            <a:ext cx="320040" cy="0"/>
          </a:xfrm>
          <a:prstGeom prst="line">
            <a:avLst/>
          </a:prstGeom>
          <a:noFill/>
          <a:ln w="25400">
            <a:solidFill>
              <a:srgbClr val="00BF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0" y="3383280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3383280"/>
            <a:ext cx="73152" cy="59436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0" y="33832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step + editable drafts + dry-run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151376"/>
            <a:ext cx="32004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151376"/>
            <a:ext cx="73152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51376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Spoofing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93008" y="4443984"/>
            <a:ext cx="320040" cy="0"/>
          </a:xfrm>
          <a:prstGeom prst="line">
            <a:avLst/>
          </a:prstGeom>
          <a:noFill/>
          <a:ln w="25400">
            <a:solidFill>
              <a:srgbClr val="00BFA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4151376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0" y="4151376"/>
            <a:ext cx="73152" cy="59436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0" y="415137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 verified sender + dry-run mode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DASHBOARD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1097280"/>
          </a:xfrm>
          <a:prstGeom prst="rect">
            <a:avLst/>
          </a:prstGeom>
          <a:solidFill>
            <a:srgbClr val="24366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73152" cy="109728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4173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070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Cards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62763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overdue status at a glance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4114800" cy="1097280"/>
          </a:xfrm>
          <a:prstGeom prst="rect">
            <a:avLst/>
          </a:prstGeom>
          <a:solidFill>
            <a:srgbClr val="24366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73152" cy="109728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41732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2070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 Editor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0" y="162763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edit before sending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0040" y="2395728"/>
            <a:ext cx="4114800" cy="1097280"/>
          </a:xfrm>
          <a:prstGeom prst="rect">
            <a:avLst/>
          </a:prstGeom>
          <a:solidFill>
            <a:srgbClr val="24366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395728"/>
            <a:ext cx="73152" cy="109728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71576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25054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Mode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51560" y="292608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emails without SMTP dispatch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54880" y="2395728"/>
            <a:ext cx="4114800" cy="1097280"/>
          </a:xfrm>
          <a:prstGeom prst="rect">
            <a:avLst/>
          </a:prstGeom>
          <a:solidFill>
            <a:srgbClr val="24366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395728"/>
            <a:ext cx="73152" cy="109728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71576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25054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Escalation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86400" y="292608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Auto-flagging for 30+ day overdue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0040" y="3694176"/>
            <a:ext cx="4114800" cy="1097280"/>
          </a:xfrm>
          <a:prstGeom prst="rect">
            <a:avLst/>
          </a:prstGeom>
          <a:solidFill>
            <a:srgbClr val="24366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" y="3694176"/>
            <a:ext cx="73152" cy="109728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01421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38039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Export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51560" y="422452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download for every email sent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754880" y="3694176"/>
            <a:ext cx="4114800" cy="1097280"/>
          </a:xfrm>
          <a:prstGeom prst="rect">
            <a:avLst/>
          </a:prstGeom>
          <a:solidFill>
            <a:srgbClr val="24366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54880" y="3694176"/>
            <a:ext cx="73152" cy="109728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4014216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86400" y="38039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Metrics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486400" y="422452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 in real-time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STATUS &amp; FUTURE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" y="1536192"/>
            <a:ext cx="201168" cy="201168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9961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CSV Invoice Loading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883664"/>
            <a:ext cx="201168" cy="201168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470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Overdue Detection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" y="2231136"/>
            <a:ext cx="201168" cy="201168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Tone Escalation Engine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" y="2578608"/>
            <a:ext cx="201168" cy="201168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420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AI Email Drafting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" y="2926080"/>
            <a:ext cx="201168" cy="201168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895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Streamlit UI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" y="3273552"/>
            <a:ext cx="201168" cy="201168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369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Dry Run Mode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2608" y="3621024"/>
            <a:ext cx="201168" cy="201168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844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SMTP Integration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" y="3968496"/>
            <a:ext cx="201168" cy="201168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31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Audit Logging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2608" y="4315968"/>
            <a:ext cx="201168" cy="201168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2793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Legal Escalation Logic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26280" y="1051560"/>
            <a:ext cx="0" cy="3749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ROADMAP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536192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4996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APScheduler automation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1938528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19019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SQLite database backend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340864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2304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LangGraph multi-agent workflows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2743200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27066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Email queue system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3145536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3108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OAuth / JWT auth layer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547872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Google Sheets integration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3950208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39136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LangSmith observability tracing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24712"/>
            <a:ext cx="502920" cy="502920"/>
          </a:xfrm>
          <a:prstGeom prst="ellipse">
            <a:avLst/>
          </a:prstGeom>
          <a:solidFill>
            <a:srgbClr val="008C80"/>
          </a:solidFill>
          <a:ln w="12700">
            <a:solidFill>
              <a:srgbClr val="008C8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7043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789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0120" y="142646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system prompts with tone variables produce consistent, professional LLM output without hallucination.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1892808"/>
            <a:ext cx="502920" cy="502920"/>
          </a:xfrm>
          <a:prstGeom prst="ellipse">
            <a:avLst/>
          </a:prstGeom>
          <a:solidFill>
            <a:srgbClr val="008C80"/>
          </a:solidFill>
          <a:ln w="12700">
            <a:solidFill>
              <a:srgbClr val="008C8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93852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18470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for Rapid Dev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60120" y="219456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LLM → Output Parser pattern enables fast iteration and clean separation of concerns.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74320" y="2660904"/>
            <a:ext cx="502920" cy="502920"/>
          </a:xfrm>
          <a:prstGeom prst="ellipse">
            <a:avLst/>
          </a:prstGeom>
          <a:solidFill>
            <a:srgbClr val="008C80"/>
          </a:solidFill>
          <a:ln w="12700">
            <a:solidFill>
              <a:srgbClr val="008C80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0662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61518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 (Dry-Run)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60120" y="296265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dry-run mode before SMTP integration prevented accidental bulk emails during development.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274320" y="3429000"/>
            <a:ext cx="502920" cy="502920"/>
          </a:xfrm>
          <a:prstGeom prst="ellipse">
            <a:avLst/>
          </a:prstGeom>
          <a:solidFill>
            <a:srgbClr val="008C80"/>
          </a:solidFill>
          <a:ln w="12700">
            <a:solidFill>
              <a:srgbClr val="008C80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47472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33832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as a Feature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960120" y="37307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CSV-based audit logging turned compliance from an afterthought into a first-class deliverable.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274320" y="4197096"/>
            <a:ext cx="502920" cy="502920"/>
          </a:xfrm>
          <a:prstGeom prst="ellipse">
            <a:avLst/>
          </a:prstGeom>
          <a:solidFill>
            <a:srgbClr val="008C80"/>
          </a:solidFill>
          <a:ln w="12700">
            <a:solidFill>
              <a:srgbClr val="008C80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242816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0120" y="415137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960120" y="449884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email drafts + review workflow ensure AI assists rather than autonomously replaces judgment.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598</Words>
  <Application>Microsoft Office PowerPoint</Application>
  <PresentationFormat>On-screen Show (16:9)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Finance Email Agent</dc:title>
  <dc:subject>PptxGenJS Presentation</dc:subject>
  <dc:creator>PptxGenJS</dc:creator>
  <cp:lastModifiedBy>NANCY SINGH</cp:lastModifiedBy>
  <cp:revision>2</cp:revision>
  <dcterms:created xsi:type="dcterms:W3CDTF">2026-05-16T15:25:44Z</dcterms:created>
  <dcterms:modified xsi:type="dcterms:W3CDTF">2026-05-16T15:59:08Z</dcterms:modified>
</cp:coreProperties>
</file>